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 ·  DATABASE MANAGEMENT SYSTEMS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DBMS: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Data Models &amp; ER/EER Design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·  Course Outcome CO1  ·  Assessment Tool 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/ Register Number]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(CSA05)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10 Topics, One Story of DBMS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19072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554480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DBMS: Definition, Objectives &amp; Applications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65176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487168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 vs. DBMS — Banking &amp; Healthcare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584448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419856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ANSI/SPARC Architecture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352544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451713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352544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— Logical &amp; Physical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285232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5449824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5449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5285232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— Hierarchical, Network, Relational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63640" y="1554480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28232" y="1719072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7" name="Text 25"/>
          <p:cNvSpPr/>
          <p:nvPr/>
        </p:nvSpPr>
        <p:spPr>
          <a:xfrm>
            <a:off x="642823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1554480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Software Components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263640" y="2487168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8232" y="265176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1" name="Text 29"/>
          <p:cNvSpPr/>
          <p:nvPr/>
        </p:nvSpPr>
        <p:spPr>
          <a:xfrm>
            <a:off x="6428232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2487168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— Online Library System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263640" y="3419856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28232" y="3584448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5" name="Text 33"/>
          <p:cNvSpPr/>
          <p:nvPr/>
        </p:nvSpPr>
        <p:spPr>
          <a:xfrm>
            <a:off x="6428232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40880" y="3419856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vs. Weak Entities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263640" y="4352544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28232" y="451713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9" name="Text 37"/>
          <p:cNvSpPr/>
          <p:nvPr/>
        </p:nvSpPr>
        <p:spPr>
          <a:xfrm>
            <a:off x="6428232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40880" y="4352544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Model — Generalization &amp; Specialization (University)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263640" y="5285232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28232" y="5449824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43" name="Text 41"/>
          <p:cNvSpPr/>
          <p:nvPr/>
        </p:nvSpPr>
        <p:spPr>
          <a:xfrm>
            <a:off x="6428232" y="5449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40880" y="5285232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Diagram — Retail Chain Management System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 · 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Database Management System?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0B3D5C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DBMS is software that enables users to define, create, maintain, and control access to a database. It acts as an interface between end users/applications and the underlying data, replacing scattered, manual file handling with a centralized, structured system.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703320"/>
            <a:ext cx="48463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2062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DBMS + Applications = A managed, reliable, shareable Database System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Objectives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0" y="205740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14" name="Text 12"/>
          <p:cNvSpPr/>
          <p:nvPr/>
        </p:nvSpPr>
        <p:spPr>
          <a:xfrm>
            <a:off x="6931152" y="20116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31152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Insulate applications from how data is physically stored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285292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8" name="Text 16"/>
          <p:cNvSpPr/>
          <p:nvPr/>
        </p:nvSpPr>
        <p:spPr>
          <a:xfrm>
            <a:off x="6931152" y="28072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Control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31152" y="3081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duplicate data across the system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364845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22" name="Text 20"/>
          <p:cNvSpPr/>
          <p:nvPr/>
        </p:nvSpPr>
        <p:spPr>
          <a:xfrm>
            <a:off x="6931152" y="360273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31152" y="38770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accuracy via constraints and validation rules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444398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26" name="Text 24"/>
          <p:cNvSpPr/>
          <p:nvPr/>
        </p:nvSpPr>
        <p:spPr>
          <a:xfrm>
            <a:off x="6931152" y="43982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Access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31152" y="4672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many users to safely use data simultaneously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0" y="523951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2" dirty="0"/>
          </a:p>
        </p:txBody>
      </p:sp>
      <p:sp>
        <p:nvSpPr>
          <p:cNvPr id="30" name="Text 28"/>
          <p:cNvSpPr/>
          <p:nvPr/>
        </p:nvSpPr>
        <p:spPr>
          <a:xfrm>
            <a:off x="6931152" y="51937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Recovery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31152" y="54681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 and recover from failures reliably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 · 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a DBMS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Redundancy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storage removes duplicate copies of the same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16552" y="1554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4645152" y="2468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45152" y="28346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apply everywhere at once, avoiding conflicting values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84464" y="1554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13064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51306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8513064" y="2468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Integrity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13064" y="28346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(keys, types, rules) keep data accurate and valid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7647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0050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777240" y="4690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Access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50566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authorization protect sensitive data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16552" y="377647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5152" y="40050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4645152" y="4690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45152" y="50566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tools restore data after crashes or failures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84464" y="377647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13064" y="40050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513064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30" dirty="0"/>
          </a:p>
        </p:txBody>
      </p:sp>
      <p:sp>
        <p:nvSpPr>
          <p:cNvPr id="33" name="Text 31"/>
          <p:cNvSpPr/>
          <p:nvPr/>
        </p:nvSpPr>
        <p:spPr>
          <a:xfrm>
            <a:off x="8513064" y="46908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Sharing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13064" y="50566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users/apps operate on data at the same time safely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 · 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 of DBMS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1056" y="1810512"/>
            <a:ext cx="585216" cy="585216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1591056" y="18105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64" dirty="0"/>
          </a:p>
        </p:txBody>
      </p:sp>
      <p:sp>
        <p:nvSpPr>
          <p:cNvPr id="8" name="Text 6"/>
          <p:cNvSpPr/>
          <p:nvPr/>
        </p:nvSpPr>
        <p:spPr>
          <a:xfrm>
            <a:off x="685800" y="2542032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2871216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transactions, loans, fraud checks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9856" y="155448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62272" y="1810512"/>
            <a:ext cx="585216" cy="585216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18105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64" dirty="0"/>
          </a:p>
        </p:txBody>
      </p:sp>
      <p:sp>
        <p:nvSpPr>
          <p:cNvPr id="13" name="Text 11"/>
          <p:cNvSpPr/>
          <p:nvPr/>
        </p:nvSpPr>
        <p:spPr>
          <a:xfrm>
            <a:off x="3557016" y="2542032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57016" y="2871216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records, prescriptions, lab results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91072" y="155448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33488" y="1810512"/>
            <a:ext cx="585216" cy="585216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7" name="Text 15"/>
          <p:cNvSpPr/>
          <p:nvPr/>
        </p:nvSpPr>
        <p:spPr>
          <a:xfrm>
            <a:off x="7333488" y="18105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64" dirty="0"/>
          </a:p>
        </p:txBody>
      </p:sp>
      <p:sp>
        <p:nvSpPr>
          <p:cNvPr id="18" name="Text 16"/>
          <p:cNvSpPr/>
          <p:nvPr/>
        </p:nvSpPr>
        <p:spPr>
          <a:xfrm>
            <a:off x="6428232" y="2542032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28232" y="2871216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Catalogs, orders, inventory, payments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62288" y="155448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204704" y="1810512"/>
            <a:ext cx="585216" cy="585216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2" name="Text 20"/>
          <p:cNvSpPr/>
          <p:nvPr/>
        </p:nvSpPr>
        <p:spPr>
          <a:xfrm>
            <a:off x="10204704" y="18105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64" dirty="0"/>
          </a:p>
        </p:txBody>
      </p:sp>
      <p:sp>
        <p:nvSpPr>
          <p:cNvPr id="23" name="Text 21"/>
          <p:cNvSpPr/>
          <p:nvPr/>
        </p:nvSpPr>
        <p:spPr>
          <a:xfrm>
            <a:off x="9299448" y="2542032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299448" y="2871216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records, courses, results, LMS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591056" y="4187952"/>
            <a:ext cx="585216" cy="585216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7" name="Text 25"/>
          <p:cNvSpPr/>
          <p:nvPr/>
        </p:nvSpPr>
        <p:spPr>
          <a:xfrm>
            <a:off x="1591056" y="4187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64" dirty="0"/>
          </a:p>
        </p:txBody>
      </p:sp>
      <p:sp>
        <p:nvSpPr>
          <p:cNvPr id="28" name="Text 26"/>
          <p:cNvSpPr/>
          <p:nvPr/>
        </p:nvSpPr>
        <p:spPr>
          <a:xfrm>
            <a:off x="685800" y="4919472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85800" y="5248656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Reservations, schedules, baggage tracking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19856" y="393192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62272" y="4187952"/>
            <a:ext cx="585216" cy="585216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2" name="Text 30"/>
          <p:cNvSpPr/>
          <p:nvPr/>
        </p:nvSpPr>
        <p:spPr>
          <a:xfrm>
            <a:off x="4462272" y="4187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64" dirty="0"/>
          </a:p>
        </p:txBody>
      </p:sp>
      <p:sp>
        <p:nvSpPr>
          <p:cNvPr id="33" name="Text 31"/>
          <p:cNvSpPr/>
          <p:nvPr/>
        </p:nvSpPr>
        <p:spPr>
          <a:xfrm>
            <a:off x="3557016" y="4919472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3557016" y="5248656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records, billing, subscriber data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91072" y="393192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33488" y="4187952"/>
            <a:ext cx="585216" cy="585216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7" name="Text 35"/>
          <p:cNvSpPr/>
          <p:nvPr/>
        </p:nvSpPr>
        <p:spPr>
          <a:xfrm>
            <a:off x="7333488" y="4187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64" dirty="0"/>
          </a:p>
        </p:txBody>
      </p:sp>
      <p:sp>
        <p:nvSpPr>
          <p:cNvPr id="38" name="Text 36"/>
          <p:cNvSpPr/>
          <p:nvPr/>
        </p:nvSpPr>
        <p:spPr>
          <a:xfrm>
            <a:off x="6428232" y="4919472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428232" y="5248656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posts, connections, messages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162288" y="393192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204704" y="4187952"/>
            <a:ext cx="585216" cy="585216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42" name="Text 40"/>
          <p:cNvSpPr/>
          <p:nvPr/>
        </p:nvSpPr>
        <p:spPr>
          <a:xfrm>
            <a:off x="10204704" y="4187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64" dirty="0"/>
          </a:p>
        </p:txBody>
      </p:sp>
      <p:sp>
        <p:nvSpPr>
          <p:cNvPr id="43" name="Text 41"/>
          <p:cNvSpPr/>
          <p:nvPr/>
        </p:nvSpPr>
        <p:spPr>
          <a:xfrm>
            <a:off x="9299448" y="4919472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9299448" y="5248656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IDs, taxation, public records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 · 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File-Based Systems vs. DBMS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9080"/>
              </a:tblGrid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File-Based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Redundancy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same data duplicated per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centralized, shared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Integrity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Manually enforced in each program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 by built-in 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Difficult, prone to conflicts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via locking &amp; transactions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Limited, per-file/OS level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Fine-grained, role-based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&amp; 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error-prone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Automated, consistent 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3D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Independence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programs tied to file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schema changes isolated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 · 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Systems vs. DBMS — Banking Sector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9A23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(File-Based Era)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duplicated across branch files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balance updates between branches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 caused fraud &amp; errors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4256" y="160020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62856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6285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62856" y="2423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Approach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62856" y="297180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DBMS stores one authoritative account record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 guarantee safe debit/credit updates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limits tellers, managers, auditors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19872" y="160020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48472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3484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48472" y="2423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48472" y="297180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consistent balances across all branches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fraud detection via integrated audit trails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backups protect against data loss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 · 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Systems vs. DBMS — Healthcare Sector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9A23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(File-Based Era)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files scattered across departments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Duplicate/conflicting medical histories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retrieval during emergencies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4256" y="160020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62856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6285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62856" y="2423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Approach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62856" y="297180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Electronic Health Record (EHR) database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links patients, visits, prescriptions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separates doctors, nurses, billing staff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19872" y="160020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48472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34847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48472" y="2423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48472" y="297180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access to complete patient history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medication errors via consistent records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care coordination across departments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 · 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Three-Level ANSI/SPARC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7863840" cy="1143000"/>
          </a:xfrm>
          <a:prstGeom prst="roundRect">
            <a:avLst>
              <a:gd name="adj" fmla="val 64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B2B33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09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Level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7568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views — how individual users/applications see their 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2743200"/>
            <a:ext cx="0" cy="274320"/>
          </a:xfrm>
          <a:prstGeom prst="line">
            <a:avLst/>
          </a:prstGeom>
          <a:noFill/>
          <a:ln w="19050">
            <a:solidFill>
              <a:srgbClr val="5C7378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09160" y="2743200"/>
            <a:ext cx="0" cy="274320"/>
          </a:xfrm>
          <a:prstGeom prst="line">
            <a:avLst/>
          </a:prstGeom>
          <a:noFill/>
          <a:ln w="19050">
            <a:solidFill>
              <a:srgbClr val="5C7378"/>
            </a:solidFill>
            <a:prstDash val="dash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3017520"/>
            <a:ext cx="7863840" cy="1143000"/>
          </a:xfrm>
          <a:prstGeom prst="roundRect">
            <a:avLst>
              <a:gd name="adj" fmla="val 64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2B33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127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Level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4930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view — full logical structure, entities, relationships, constraints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4160520"/>
            <a:ext cx="0" cy="274320"/>
          </a:xfrm>
          <a:prstGeom prst="line">
            <a:avLst/>
          </a:prstGeom>
          <a:noFill/>
          <a:ln w="19050">
            <a:solidFill>
              <a:srgbClr val="5C7378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09160" y="4160520"/>
            <a:ext cx="0" cy="274320"/>
          </a:xfrm>
          <a:prstGeom prst="line">
            <a:avLst/>
          </a:prstGeom>
          <a:noFill/>
          <a:ln w="19050">
            <a:solidFill>
              <a:srgbClr val="5C7378"/>
            </a:solidFill>
            <a:prstDash val="dash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4434840"/>
            <a:ext cx="7863840" cy="1143000"/>
          </a:xfrm>
          <a:prstGeom prst="roundRect">
            <a:avLst>
              <a:gd name="adj" fmla="val 6400"/>
            </a:avLst>
          </a:prstGeom>
          <a:solidFill>
            <a:srgbClr val="0B3D5C"/>
          </a:solidFill>
          <a:ln/>
          <a:effectLst>
            <a:outerShdw sx="100000" sy="100000" kx="0" ky="0" algn="bl" rotWithShape="0" blurRad="76200" dist="25400" dir="5400000">
              <a:srgbClr val="1B2B33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544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Level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91032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— files, indexes, access paths on disk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69680" y="1600200"/>
            <a:ext cx="2743200" cy="4526280"/>
          </a:xfrm>
          <a:prstGeom prst="roundRect">
            <a:avLst>
              <a:gd name="adj" fmla="val 2667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= Data Independence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2423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 Librarian's view shows only book &amp; loan fields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52560" y="3657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complete Library schema: Book, Member, Loan, Staff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52560" y="4892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B-tree index on Book.ISBN for fast lookup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 · 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 &amp; Its Significance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Data Independence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change the conceptual schema (add/remove entities or attributes) without altering external views or application programs.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4892040" cy="0"/>
          </a:xfrm>
          <a:prstGeom prst="line">
            <a:avLst/>
          </a:prstGeom>
          <a:noFill/>
          <a:ln w="12700">
            <a:solidFill>
              <a:srgbClr val="D7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86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adding an 'Email' attribute to Member does not break the Librarian's app.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783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Data Independence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4688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change the internal schema (storage structures, indexes, file organization) without altering the conceptual schema.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3794760"/>
            <a:ext cx="4892040" cy="0"/>
          </a:xfrm>
          <a:prstGeom prst="line">
            <a:avLst/>
          </a:prstGeom>
          <a:noFill/>
          <a:ln w="12700">
            <a:solidFill>
              <a:srgbClr val="D7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886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switching Book storage from sequential file to B-tree index doesn't affect queries.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0B3D5C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120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isolates the three ANSI/SPARC levels so that schema evolution, storage tuning, and performance optimization can happen without rewriting application code — a core reason DBMS outperforms file-based systems.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 ·  DATA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Models: Hierarchical, Network, Relational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Model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600200" y="210312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B3D5C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2103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28803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803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2514600"/>
            <a:ext cx="-777240" cy="36576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28803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28803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2514600"/>
            <a:ext cx="594360" cy="36576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52044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20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 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25880" y="352044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3520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23160" y="352044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2423160" y="3520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 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63240" y="352044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3063240" y="3520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4480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Parent–child tree; each child has exactly one parent (1:N links).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120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use: IBM IMS, XML document stores, file directory systems.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6052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8912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Model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480560" y="210312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2103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10312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2103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57800" y="306324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3063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74920" y="2487168"/>
            <a:ext cx="457200" cy="50292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487168"/>
            <a:ext cx="0" cy="50292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74920" y="2295144"/>
            <a:ext cx="1280160" cy="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4480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structure; a child (record) can have multiple parents (M:N links).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389120" y="5120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use: IDMS, telecom provisioning, legacy airline systems.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0" y="1554480"/>
            <a:ext cx="3867912" cy="4206240"/>
          </a:xfrm>
          <a:prstGeom prst="roundRect">
            <a:avLst>
              <a:gd name="adj" fmla="val 189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00100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2103120"/>
          <a:ext cx="3429000" cy="13716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8001000" y="44805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organized as related tables (rows &amp; columns) linked by keys.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8001000" y="51206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use: MySQL, PostgreSQL, Oracle, SQL Server — today's dominant model.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  ·  INTERNAL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Components of a DBMS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663440" y="3291840"/>
            <a:ext cx="1645920" cy="9144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0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099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733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2219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Parses, optimizes &amp; executes SQL queries into low-level instructions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92440" y="15087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21040" y="17099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16733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21040" y="22219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physical data placement, indexes, buffers &amp; file access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49377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26280" y="51389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9A23B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51023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26280" y="56509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ACID properties: atomicity, consistency, isolation, durability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40280" y="2468880"/>
            <a:ext cx="2606040" cy="1280160"/>
          </a:xfrm>
          <a:prstGeom prst="line">
            <a:avLst/>
          </a:prstGeom>
          <a:noFill/>
          <a:ln w="15875">
            <a:solidFill>
              <a:srgbClr val="5C737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309360" y="3566160"/>
            <a:ext cx="1783080" cy="-1737360"/>
          </a:xfrm>
          <a:prstGeom prst="line">
            <a:avLst/>
          </a:prstGeom>
          <a:noFill/>
          <a:ln w="15875">
            <a:solidFill>
              <a:srgbClr val="5C737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486400" y="4206240"/>
            <a:ext cx="0" cy="731520"/>
          </a:xfrm>
          <a:prstGeom prst="line">
            <a:avLst/>
          </a:prstGeom>
          <a:noFill/>
          <a:ln w="15875">
            <a:solidFill>
              <a:srgbClr val="5C737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 ·  ER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— Online Library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640080" y="2788920"/>
            <a:ext cx="1554480" cy="54864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234440"/>
            <a:ext cx="1554480" cy="54864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234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4343400"/>
            <a:ext cx="1554480" cy="54864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4343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2788920"/>
            <a:ext cx="1554480" cy="54864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14600" y="2743200"/>
            <a:ext cx="1417320" cy="640080"/>
          </a:xfrm>
          <a:prstGeom prst="diamond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27432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2423160"/>
            <a:ext cx="822960" cy="548640"/>
          </a:xfrm>
          <a:prstGeom prst="diamond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423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09360" y="2743200"/>
            <a:ext cx="1371600" cy="640080"/>
          </a:xfrm>
          <a:prstGeom prst="diamond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94560" y="3063240"/>
            <a:ext cx="320040" cy="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3063240"/>
            <a:ext cx="365760" cy="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783080"/>
            <a:ext cx="0" cy="64008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2971800"/>
            <a:ext cx="0" cy="137160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3063240"/>
            <a:ext cx="457200" cy="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3063240"/>
            <a:ext cx="274320" cy="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" y="1645920"/>
            <a:ext cx="1051560" cy="502920"/>
          </a:xfrm>
          <a:prstGeom prst="ellipse">
            <a:avLst/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" y="16459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u="sng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1440" y="2240280"/>
            <a:ext cx="1051560" cy="457200"/>
          </a:xfrm>
          <a:prstGeom prst="ellipse">
            <a:avLst/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" y="22402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" y="2148840"/>
            <a:ext cx="566928" cy="64008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2697480"/>
            <a:ext cx="566928" cy="9144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31720" y="320040"/>
            <a:ext cx="1005840" cy="457200"/>
          </a:xfrm>
          <a:prstGeom prst="ellipse">
            <a:avLst/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320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u="sng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0" y="182880"/>
            <a:ext cx="1005840" cy="457200"/>
          </a:xfrm>
          <a:prstGeom prst="ellipse">
            <a:avLst/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182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212080" y="320040"/>
            <a:ext cx="1005840" cy="457200"/>
          </a:xfrm>
          <a:prstGeom prst="ellipse">
            <a:avLst/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320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834640" y="777240"/>
            <a:ext cx="2011680" cy="45720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60520" y="640080"/>
            <a:ext cx="868680" cy="59436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57800" y="777240"/>
            <a:ext cx="457200" cy="45720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23360" y="5394960"/>
            <a:ext cx="1005840" cy="457200"/>
          </a:xfrm>
          <a:prstGeom prst="ellipse">
            <a:avLst/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0" y="5394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u="sng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0" y="5394960"/>
            <a:ext cx="1005840" cy="457200"/>
          </a:xfrm>
          <a:prstGeom prst="ellipse">
            <a:avLst/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5394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AuthorName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26280" y="4892040"/>
            <a:ext cx="411480" cy="50292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4892040"/>
            <a:ext cx="777240" cy="50292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84080" y="1737360"/>
            <a:ext cx="1097280" cy="457200"/>
          </a:xfrm>
          <a:prstGeom prst="ellipse">
            <a:avLst/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8408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u="sng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784080" y="2286000"/>
            <a:ext cx="1188720" cy="502920"/>
          </a:xfrm>
          <a:prstGeom prst="ellipse">
            <a:avLst/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84080" y="2286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869680" y="1965960"/>
            <a:ext cx="914400" cy="109728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69680" y="2514600"/>
            <a:ext cx="914400" cy="54864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94560" y="3977640"/>
            <a:ext cx="1188720" cy="502920"/>
          </a:xfrm>
          <a:prstGeom prst="ellipse">
            <a:avLst/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94560" y="3977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DueDate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0" y="3383280"/>
            <a:ext cx="365760" cy="59436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4028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97764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4360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72668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 ·  ER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Components Explained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02336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6675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in the Library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Rectangle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real-world object with independent existence — Member, Book, Author, 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Diamond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association between entities — Borrows, Written By, Manages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property describing an entity — Name, ISBN, DueDate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Underlined Oval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Uniquely identifies an entity instance — MemberID, ISBN, StaffID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/ N / 1 label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instances participating — a Member borrows Many Books (M:N)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note: BORROWS is Many-to-Many, so it is resolved as its own record carrying the DueDate attribute — a common real-world ER pattern.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  ·  ER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vs. Weak Entities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Entity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key attribute and can exist independently of any other entity.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2834640"/>
            <a:ext cx="1645920" cy="54864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926080"/>
            <a:ext cx="1005840" cy="411480"/>
          </a:xfrm>
          <a:prstGeom prst="ellipse">
            <a:avLst/>
          </a:prstGeom>
          <a:solidFill>
            <a:srgbClr val="EAF4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926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3108960"/>
            <a:ext cx="274320" cy="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EMPLOYEE — identified uniquely by its own EmpID.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Entity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2148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independent key; depends on a strong (owner) entity via an identifying relationship.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2834640"/>
            <a:ext cx="1645920" cy="54864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2880360"/>
            <a:ext cx="822960" cy="457200"/>
          </a:xfrm>
          <a:prstGeom prst="diamond">
            <a:avLst/>
          </a:prstGeom>
          <a:solidFill>
            <a:srgbClr val="E9A23B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28803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104120" y="2743200"/>
            <a:ext cx="16002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B3D5C"/>
            </a:solidFill>
            <a:prstDash val="sysDash"/>
          </a:ln>
        </p:spPr>
      </p:sp>
      <p:sp>
        <p:nvSpPr>
          <p:cNvPr id="22" name="Text 20"/>
          <p:cNvSpPr/>
          <p:nvPr/>
        </p:nvSpPr>
        <p:spPr>
          <a:xfrm>
            <a:off x="10104120" y="27432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36576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DEPENDENT — identified only by (EmpID + DependentName), since two employees may each have a child of the same name.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64240" cy="187452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Entity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Entity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Attribute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primary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key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owner entity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 Notation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rectangle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Double-outlined rectangle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Employee, Book, 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Dependent, Order-Item, Room (of a Hotel)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 &amp; 9  ·  EER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Model — Generalization &amp; Specialization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 (Top-Down)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a general super-entity and divides it into more specific sub-entities based on distinguishing characteristics.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VEHICLE  →  Car, Truck, Motorcycle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2F8F8"/>
          </a:solidFill>
          <a:ln w="12700">
            <a:solidFill>
              <a:srgbClr val="D7E6E6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(Bottom-Up)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multiple entities that share common attributes into a single, more general super-entity.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7512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Car + Truck + Motorcycle  →  VEHICLE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66360" y="3977640"/>
            <a:ext cx="1828800" cy="5029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60720" y="4617720"/>
            <a:ext cx="640080" cy="457200"/>
          </a:xfrm>
          <a:prstGeom prst="triangle">
            <a:avLst/>
          </a:prstGeom>
          <a:solidFill>
            <a:srgbClr val="E9A23B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4663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4480560"/>
            <a:ext cx="0" cy="13716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03320" y="5074920"/>
            <a:ext cx="2377440" cy="32004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5394960"/>
            <a:ext cx="182880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2788920" y="5394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5074920"/>
            <a:ext cx="0" cy="32004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5394960"/>
            <a:ext cx="182880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5394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58200" y="5074920"/>
            <a:ext cx="-2377440" cy="32004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5394960"/>
            <a:ext cx="182880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5394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Sub-entities inherit all attributes of the super-entity and add their own specific attributes.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  ·  EER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Case Study — University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937760" y="1600200"/>
            <a:ext cx="2286000" cy="566928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600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 (PersonID, Name, DOB)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715000" y="2331720"/>
            <a:ext cx="731520" cy="457200"/>
          </a:xfrm>
          <a:prstGeom prst="triangle">
            <a:avLst/>
          </a:prstGeom>
          <a:solidFill>
            <a:srgbClr val="E9A23B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(disjoint)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2788920"/>
            <a:ext cx="5257800" cy="32004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08960"/>
            <a:ext cx="201168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364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RollNo, Major, Year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66360" y="2788920"/>
            <a:ext cx="1920240" cy="32004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3108960"/>
            <a:ext cx="201168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16052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3364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EmpID, Dept, Salary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503920" y="2788920"/>
            <a:ext cx="-1417320" cy="32004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3108960"/>
            <a:ext cx="201168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33649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EmpID, Role, Shift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0" y="3675888"/>
            <a:ext cx="0" cy="32004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3995928"/>
            <a:ext cx="731520" cy="411480"/>
          </a:xfrm>
          <a:prstGeom prst="triangle">
            <a:avLst/>
          </a:prstGeom>
          <a:solidFill>
            <a:srgbClr val="E9A23B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4023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4407408"/>
            <a:ext cx="1737360" cy="32004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" y="4727448"/>
            <a:ext cx="173736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" y="47274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8960" y="4407408"/>
            <a:ext cx="-457200" cy="320040"/>
          </a:xfrm>
          <a:prstGeom prst="line">
            <a:avLst/>
          </a:prstGeom>
          <a:noFill/>
          <a:ln w="15875">
            <a:solidFill>
              <a:srgbClr val="5C73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4727448"/>
            <a:ext cx="173736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0" y="47274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AF4F4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6235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read: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generalizes shared attributes; the disjoint (d) constraint means a person is exactly one of Student, Faculty, or Staff. STUDENT is further specialized into Undergraduate/Graduate — a two-level EER hierarchy.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  ·  EER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Diagram — Retail Chain Management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2880360"/>
            <a:ext cx="1554480" cy="5029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2788920"/>
            <a:ext cx="1188720" cy="640080"/>
          </a:xfrm>
          <a:prstGeom prst="diamond">
            <a:avLst/>
          </a:prstGeom>
          <a:solidFill>
            <a:srgbClr val="E9A23B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2788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749040" y="2880360"/>
            <a:ext cx="1554480" cy="5029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32120" y="2788920"/>
            <a:ext cx="1188720" cy="640080"/>
          </a:xfrm>
          <a:prstGeom prst="diamond">
            <a:avLst/>
          </a:prstGeom>
          <a:solidFill>
            <a:srgbClr val="E9A23B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2788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949440" y="2880360"/>
            <a:ext cx="1554480" cy="5029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732520" y="2788920"/>
            <a:ext cx="1188720" cy="640080"/>
          </a:xfrm>
          <a:prstGeom prst="diamond">
            <a:avLst/>
          </a:prstGeom>
          <a:solidFill>
            <a:srgbClr val="E9A23B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2788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195560" y="2880360"/>
            <a:ext cx="1554480" cy="5029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195560" y="2880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3108960"/>
            <a:ext cx="228600" cy="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3108960"/>
            <a:ext cx="228600" cy="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3108960"/>
            <a:ext cx="228600" cy="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3108960"/>
            <a:ext cx="228600" cy="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0" y="3108960"/>
            <a:ext cx="228600" cy="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21240" y="3108960"/>
            <a:ext cx="274320" cy="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0" y="5120640"/>
            <a:ext cx="1554480" cy="5029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0" y="5120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4251960"/>
            <a:ext cx="1280160" cy="594360"/>
          </a:xfrm>
          <a:prstGeom prst="diamond">
            <a:avLst/>
          </a:prstGeom>
          <a:solidFill>
            <a:srgbClr val="E9A23B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42519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434840" y="4846320"/>
            <a:ext cx="0" cy="27432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3383280"/>
            <a:ext cx="0" cy="86868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120640"/>
            <a:ext cx="1554480" cy="50292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120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31720" y="5056632"/>
            <a:ext cx="1097280" cy="594360"/>
          </a:xfrm>
          <a:prstGeom prst="diamond">
            <a:avLst/>
          </a:prstGeom>
          <a:solidFill>
            <a:srgbClr val="E9A23B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505663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103120" y="5367528"/>
            <a:ext cx="228600" cy="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29000" y="5367528"/>
            <a:ext cx="320040" cy="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06640" y="3703320"/>
            <a:ext cx="640080" cy="41148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7406640" y="37307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26680" y="3383280"/>
            <a:ext cx="0" cy="32004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4114800"/>
            <a:ext cx="822960" cy="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4206240"/>
            <a:ext cx="155448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26680" y="4114800"/>
            <a:ext cx="1417320" cy="0"/>
          </a:xfrm>
          <a:prstGeom prst="line">
            <a:avLst/>
          </a:prstGeom>
          <a:noFill/>
          <a:ln w="12700">
            <a:solidFill>
              <a:srgbClr val="5C737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66760" y="4206240"/>
            <a:ext cx="155448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5" name="Text 43"/>
          <p:cNvSpPr/>
          <p:nvPr/>
        </p:nvSpPr>
        <p:spPr>
          <a:xfrm>
            <a:off x="8366760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48840" y="28803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566160" y="28803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349240" y="28803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766560" y="28803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549640" y="28803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966960" y="28803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  ·  DESIGN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Chain EER — Key Design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5270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Identified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470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Employee, Customer, Order, Product, Supplier — each with independent existence and a primary key.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45973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Resolved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77977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↔ PRODUCT is M:N, modeled through the CONTAINS relationship carrying Quantity &amp; Price attributes.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39242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Specialization Applied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71246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is specialized into PERISHABLE and ELECTRONIC sub-types with a disjoint (d) constraint — each captures type-specific attributes (Expiry Date vs. Warranty Period).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352544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3251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Structure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6451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employs many EMPLOYEEs (1:N); an EMPLOYEE handles many ORDERs (1:N), reflecting real branch-level accountability.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285232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2578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Traceability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5577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is SUPPLIED BY exactly one SUPPLIER, enabling inventory and procurement tracking chain-wide.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Question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0" cy="0"/>
          </a:xfrm>
          <a:prstGeom prst="ellipse">
            <a:avLst/>
          </a:prstGeom>
          <a:noFill/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663440"/>
        </p:xfrm>
        <a:graphic>
          <a:graphicData uri="http://schemas.openxmlformats.org/drawingml/2006/table">
            <a:tbl>
              <a:tblPr/>
              <a:tblGrid>
                <a:gridCol w="914400"/>
                <a:gridCol w="8321040"/>
                <a:gridCol w="18288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 definition, objectives, advantages, applications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–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systems vs. DBMS — banking &amp; healthcare case studies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–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Three-level ANSI/SPARC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Hierarchical, Network, Relational data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diagram — Online Library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– 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 model — generalization/specialization, University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– 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independence (logical &amp; physical)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 software components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vs. weak entities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 diagram — Retail Chain Management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– 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Files to Structured Data Systems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7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replaces redundant, error-prone file systems with a centralized, consistent, and secure data platform.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70" dirty="0"/>
          </a:p>
        </p:txBody>
      </p:sp>
      <p:sp>
        <p:nvSpPr>
          <p:cNvPr id="10" name="Text 8"/>
          <p:cNvSpPr/>
          <p:nvPr/>
        </p:nvSpPr>
        <p:spPr>
          <a:xfrm>
            <a:off x="1188720" y="27889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ANSI/SPARC architecture and data independence let schemas evolve without breaking applications.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1188720" y="3749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(Hierarchical, Network, Relational) offer different trade-offs; the relational model dominates today.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1188720" y="4709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ER/EER modeling — entities, relationships, strong/weak entities, generalization/specialization — is the blueprint for reliable, well-normalized databases.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206240"/>
            <a:ext cx="5029200" cy="5029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997196" y="3977640"/>
            <a:ext cx="21945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(CSA05)  ·  SIMATS Engineering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2026-07-31T02:46:40Z</dcterms:created>
  <dcterms:modified xsi:type="dcterms:W3CDTF">2026-07-31T02:46:40Z</dcterms:modified>
</cp:coreProperties>
</file>